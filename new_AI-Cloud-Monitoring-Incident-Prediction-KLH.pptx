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A1A1A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libri" panose="020F0502020204030204"/>
              </a:rPr>
              <a:t>Service latency over 24 hours</a:t>
            </a:r>
            <a:endParaRPr sz="1200" b="0" i="0" u="none" strike="noStrike">
              <a:solidFill>
                <a:srgbClr val="1A1A1A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latency (ms)</c:v>
                </c:pt>
              </c:strCache>
            </c:strRef>
          </c:tx>
          <c:spPr>
            <a:ln w="3175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00:00</c:v>
                </c:pt>
                <c:pt idx="1">
                  <c:v>02:00</c:v>
                </c:pt>
                <c:pt idx="2">
                  <c:v>04:00</c:v>
                </c:pt>
                <c:pt idx="3">
                  <c:v>06:00</c:v>
                </c:pt>
                <c:pt idx="4">
                  <c:v>08:00</c:v>
                </c:pt>
                <c:pt idx="5">
                  <c:v>10:00</c:v>
                </c:pt>
                <c:pt idx="6">
                  <c:v>12:00</c:v>
                </c:pt>
                <c:pt idx="7">
                  <c:v>14:00</c:v>
                </c:pt>
                <c:pt idx="8">
                  <c:v>16:00</c:v>
                </c:pt>
                <c:pt idx="9">
                  <c:v>18:00</c:v>
                </c:pt>
                <c:pt idx="10">
                  <c:v>20:00</c:v>
                </c:pt>
                <c:pt idx="11">
                  <c:v>22:00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120</c:v>
                </c:pt>
                <c:pt idx="1">
                  <c:v>110</c:v>
                </c:pt>
                <c:pt idx="2">
                  <c:v>105</c:v>
                </c:pt>
                <c:pt idx="3">
                  <c:v>118</c:v>
                </c:pt>
                <c:pt idx="4">
                  <c:v>190</c:v>
                </c:pt>
                <c:pt idx="5">
                  <c:v>240</c:v>
                </c:pt>
                <c:pt idx="6">
                  <c:v>260</c:v>
                </c:pt>
                <c:pt idx="7">
                  <c:v>255</c:v>
                </c:pt>
                <c:pt idx="8">
                  <c:v>248</c:v>
                </c:pt>
                <c:pt idx="9">
                  <c:v>430</c:v>
                </c:pt>
                <c:pt idx="10">
                  <c:v>610</c:v>
                </c:pt>
                <c:pt idx="11">
                  <c:v>520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Learned baseline</c:v>
                </c:pt>
              </c:strCache>
            </c:strRef>
          </c:tx>
          <c:spPr>
            <a:ln w="31750" cap="flat" cmpd="sng" algn="ctr">
              <a:solidFill>
                <a:srgbClr val="4472C4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00:00</c:v>
                </c:pt>
                <c:pt idx="1">
                  <c:v>02:00</c:v>
                </c:pt>
                <c:pt idx="2">
                  <c:v>04:00</c:v>
                </c:pt>
                <c:pt idx="3">
                  <c:v>06:00</c:v>
                </c:pt>
                <c:pt idx="4">
                  <c:v>08:00</c:v>
                </c:pt>
                <c:pt idx="5">
                  <c:v>10:00</c:v>
                </c:pt>
                <c:pt idx="6">
                  <c:v>12:00</c:v>
                </c:pt>
                <c:pt idx="7">
                  <c:v>14:00</c:v>
                </c:pt>
                <c:pt idx="8">
                  <c:v>16:00</c:v>
                </c:pt>
                <c:pt idx="9">
                  <c:v>18:00</c:v>
                </c:pt>
                <c:pt idx="10">
                  <c:v>20:00</c:v>
                </c:pt>
                <c:pt idx="11">
                  <c:v>22:00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118</c:v>
                </c:pt>
                <c:pt idx="1">
                  <c:v>112</c:v>
                </c:pt>
                <c:pt idx="2">
                  <c:v>108</c:v>
                </c:pt>
                <c:pt idx="3">
                  <c:v>125</c:v>
                </c:pt>
                <c:pt idx="4">
                  <c:v>195</c:v>
                </c:pt>
                <c:pt idx="5">
                  <c:v>235</c:v>
                </c:pt>
                <c:pt idx="6">
                  <c:v>258</c:v>
                </c:pt>
                <c:pt idx="7">
                  <c:v>252</c:v>
                </c:pt>
                <c:pt idx="8">
                  <c:v>245</c:v>
                </c:pt>
                <c:pt idx="9">
                  <c:v>250</c:v>
                </c:pt>
                <c:pt idx="10">
                  <c:v>248</c:v>
                </c:pt>
                <c:pt idx="11">
                  <c:v>240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Static threshold</c:v>
                </c:pt>
              </c:strCache>
            </c:strRef>
          </c:tx>
          <c:spPr>
            <a:ln w="31750" cap="flat" cmpd="sng" algn="ctr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00:00</c:v>
                </c:pt>
                <c:pt idx="1">
                  <c:v>02:00</c:v>
                </c:pt>
                <c:pt idx="2">
                  <c:v>04:00</c:v>
                </c:pt>
                <c:pt idx="3">
                  <c:v>06:00</c:v>
                </c:pt>
                <c:pt idx="4">
                  <c:v>08:00</c:v>
                </c:pt>
                <c:pt idx="5">
                  <c:v>10:00</c:v>
                </c:pt>
                <c:pt idx="6">
                  <c:v>12:00</c:v>
                </c:pt>
                <c:pt idx="7">
                  <c:v>14:00</c:v>
                </c:pt>
                <c:pt idx="8">
                  <c:v>16:00</c:v>
                </c:pt>
                <c:pt idx="9">
                  <c:v>18:00</c:v>
                </c:pt>
                <c:pt idx="10">
                  <c:v>20:00</c:v>
                </c:pt>
                <c:pt idx="11">
                  <c:v>22:00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500</c:v>
                </c:pt>
                <c:pt idx="1">
                  <c:v>500</c:v>
                </c:pt>
                <c:pt idx="2">
                  <c:v>500</c:v>
                </c:pt>
                <c:pt idx="3">
                  <c:v>500</c:v>
                </c:pt>
                <c:pt idx="4">
                  <c:v>500</c:v>
                </c:pt>
                <c:pt idx="5">
                  <c:v>500</c:v>
                </c:pt>
                <c:pt idx="6">
                  <c:v>500</c:v>
                </c:pt>
                <c:pt idx="7">
                  <c:v>500</c:v>
                </c:pt>
                <c:pt idx="8">
                  <c:v>500</c:v>
                </c:pt>
                <c:pt idx="9">
                  <c:v>500</c:v>
                </c:pt>
                <c:pt idx="10">
                  <c:v>500</c:v>
                </c:pt>
                <c:pt idx="11">
                  <c:v>500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rgbClr val="595959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6ee98082-0ca1-4e96-83f8-aa994f12ecbc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A1A1A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libri" panose="020F0502020204030204"/>
              </a:rPr>
              <a:t>Operational metrics before and after</a:t>
            </a:r>
            <a:endParaRPr sz="1200" b="0" i="0" u="none" strike="noStrike">
              <a:solidFill>
                <a:srgbClr val="1A1A1A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A1A1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MTTD (min)</c:v>
                </c:pt>
                <c:pt idx="1">
                  <c:v>MTTR (min)</c:v>
                </c:pt>
                <c:pt idx="2">
                  <c:v>False alerts/day</c:v>
                </c:pt>
                <c:pt idx="3">
                  <c:v>Outages/quarter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240</c:v>
                </c:pt>
                <c:pt idx="2">
                  <c:v>180</c:v>
                </c:pt>
                <c:pt idx="3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A1A1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MTTD (min)</c:v>
                </c:pt>
                <c:pt idx="1">
                  <c:v>MTTR (min)</c:v>
                </c:pt>
                <c:pt idx="2">
                  <c:v>False alerts/day</c:v>
                </c:pt>
                <c:pt idx="3">
                  <c:v>Outages/quarter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</c:v>
                </c:pt>
                <c:pt idx="1">
                  <c:v>68</c:v>
                </c:pt>
                <c:pt idx="2">
                  <c:v>34</c:v>
                </c:pt>
                <c:pt idx="3">
                  <c:v>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rgbClr val="595959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c249b6b3-bf18-4c67-a36f-d973a83eec9b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AIOps platform that predicts infrastructure incidents before they impact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870448"/>
            <a:ext cx="1371600" cy="649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23444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 (Deemed to be University), Hyderabad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0020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Computer Science and Engineering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91840" y="2148840"/>
            <a:ext cx="557784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468880"/>
            <a:ext cx="104241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AI-Powered Cloud Infrastructure Monitoring</a:t>
            </a:r>
            <a:endParaRPr lang="en-US" sz="3200" dirty="0"/>
          </a:p>
          <a:p>
            <a:pPr marL="0" indent="0" algn="ctr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and Incident Prediction System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88620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observability that detects failures before they become outages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84632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Presentation  |  Academic Year 2026</a:t>
            </a:r>
            <a:endParaRPr lang="en-US" sz="1300" dirty="0"/>
          </a:p>
        </p:txBody>
      </p:sp>
      <p:sp>
        <p:nvSpPr>
          <p:cNvPr id="12" name="Text Box 11"/>
          <p:cNvSpPr txBox="1"/>
          <p:nvPr/>
        </p:nvSpPr>
        <p:spPr>
          <a:xfrm>
            <a:off x="822960" y="5386705"/>
            <a:ext cx="3306445" cy="1132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k.Manish venkatt    2420030051</a:t>
            </a:r>
            <a:br>
              <a:rPr lang="en-US"/>
            </a:br>
            <a:r>
              <a:rPr lang="en-US"/>
              <a:t>Sai charan                 2420030200</a:t>
            </a:r>
            <a:br>
              <a:rPr lang="en-US"/>
            </a:br>
            <a:r>
              <a:rPr lang="en-US"/>
              <a:t>Abhishek                   2420030070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870448"/>
            <a:ext cx="1371600" cy="649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Contents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Outline of the presentation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737360"/>
            <a:ext cx="5029200" cy="3931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Problem statement and motivation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Limitations of traditional monitoring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Proposed system overview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System architecture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 Data collection and telemetry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 Data pipeline and feature engineering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 AI/ML model suite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  Anomaly detection engine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1737360"/>
            <a:ext cx="5029200" cy="3931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  Incident prediction and lead time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  Root cause analysis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  Automated remediation workflow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  Technology stack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  Implementation roadmap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  Evaluation and expected impact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  Challenges and mitigation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  Future scope and conclusion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870448"/>
            <a:ext cx="1371600" cy="649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outages are frequent, expensive and detected too late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737360"/>
            <a:ext cx="10241280" cy="420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cloud estates span thousands of containers, virtual machines, microservices and managed services, far beyond human monitoring capacity.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threshold-based alerts fire only after a failure has already begun, giving operations teams zero preparation time.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 storms bury the few signals that matter, causing severe alert fatigue among on-call engineers.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Root cause is identified manually by correlating multiple dashboards, which is slow, error-prone and expensive.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cost of downtime is approximately $5,600 per minute, and typical mean time to resolution is 4 to 6 hours.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Nearly 76% of outages are reported by end users before monitoring tools detect them.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760720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Objective: build a system that learns normal infrastructure behaviour and predicts incidents in advance.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870448"/>
            <a:ext cx="1371600" cy="649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Traditional Monitoring vs. AI-Driven Monitoring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shift from reactive dashboards to predictive intelligence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48640" y="1691640"/>
          <a:ext cx="10698480" cy="3803904"/>
        </p:xfrm>
        <a:graphic>
          <a:graphicData uri="http://schemas.openxmlformats.org/drawingml/2006/table">
            <a:tbl>
              <a:tblPr/>
              <a:tblGrid>
                <a:gridCol w="2377440"/>
                <a:gridCol w="4160520"/>
                <a:gridCol w="416052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Aspect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Traditional Monitoring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AI-Powered Monitoring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Thresholds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Fixed and manually tuned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Dynamic baselines learned per service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Timing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Reactive, alerts after impact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Predictive, warns 15 to 60 minutes ahead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 handling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Siloed metrics, logs and traces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Unified telemetry correlation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Alert quality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false-positive volume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Noise reduction through clustering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Root cause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Manual dashboard correlation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Automated causal graph analysis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Scalability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Requires more human effort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Scales with data, not headcount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Learning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learning from past incidents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Continuous retraining on feedback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870448"/>
            <a:ext cx="1371600" cy="649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end-to-end AIOps platform operating as a closed loop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48640" y="1737360"/>
          <a:ext cx="10698480" cy="3968496"/>
        </p:xfrm>
        <a:graphic>
          <a:graphicData uri="http://schemas.openxmlformats.org/drawingml/2006/table">
            <a:tbl>
              <a:tblPr/>
              <a:tblGrid>
                <a:gridCol w="2011680"/>
                <a:gridCol w="868680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Stage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Function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 Observe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Unified agent-based collection of metrics, logs, traces and events from every cloud resource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 Detect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Unsupervised models learn normal behaviour per service and flag deviations in real time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3. Predict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Time-series forecasting and classifiers estimate failure probability in a forward window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4. Diagnose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Topology-aware correlation ranks the most probable root cause of a predicted incident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5. Act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Policy-driven runbooks scale, restart, reroute or page the right team automatically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6. Learn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Engineer feedback on every alert feeds back into model retraining and threshold tuning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870448"/>
            <a:ext cx="1371600" cy="649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five-layer pipeline from raw telemetry to automated action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280160" y="1600200"/>
            <a:ext cx="9601200" cy="658368"/>
          </a:xfrm>
          <a:prstGeom prst="rect">
            <a:avLst/>
          </a:prstGeom>
          <a:solidFill>
            <a:srgbClr val="EDF0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508760" y="1600200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1 — Data Source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4297680" y="1600200"/>
            <a:ext cx="6400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/ Azure / GCP, Kubernetes, virtual machines, databases, network devices, application APM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 rot="10800000">
            <a:off x="5971032" y="2286000"/>
            <a:ext cx="219456" cy="182880"/>
          </a:xfrm>
          <a:prstGeom prst="triangle">
            <a:avLst/>
          </a:prstGeom>
          <a:solidFill>
            <a:srgbClr val="1F3864"/>
          </a:solidFill>
        </p:spPr>
      </p:sp>
      <p:sp>
        <p:nvSpPr>
          <p:cNvPr id="11" name="Shape 8"/>
          <p:cNvSpPr/>
          <p:nvPr/>
        </p:nvSpPr>
        <p:spPr>
          <a:xfrm>
            <a:off x="1280160" y="2468880"/>
            <a:ext cx="9601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08760" y="2468880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2 — Ingestion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4297680" y="2468880"/>
            <a:ext cx="6400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Prometheus and OpenTelemetry agents, Fluent Bit, Kafka streaming bus, schema validation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 rot="10800000">
            <a:off x="5971032" y="3154680"/>
            <a:ext cx="219456" cy="182880"/>
          </a:xfrm>
          <a:prstGeom prst="triangle">
            <a:avLst/>
          </a:prstGeom>
          <a:solidFill>
            <a:srgbClr val="1F3864"/>
          </a:solidFill>
        </p:spPr>
      </p:sp>
      <p:sp>
        <p:nvSpPr>
          <p:cNvPr id="15" name="Shape 12"/>
          <p:cNvSpPr/>
          <p:nvPr/>
        </p:nvSpPr>
        <p:spPr>
          <a:xfrm>
            <a:off x="1280160" y="3337560"/>
            <a:ext cx="9601200" cy="658368"/>
          </a:xfrm>
          <a:prstGeom prst="rect">
            <a:avLst/>
          </a:prstGeom>
          <a:solidFill>
            <a:srgbClr val="EDF0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508760" y="3337560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3 — Processing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297680" y="3337560"/>
            <a:ext cx="6400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 cleaning, resampling, feature engineering, time-series database and data-lake storage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 rot="10800000">
            <a:off x="5971032" y="4023360"/>
            <a:ext cx="219456" cy="182880"/>
          </a:xfrm>
          <a:prstGeom prst="triangle">
            <a:avLst/>
          </a:prstGeom>
          <a:solidFill>
            <a:srgbClr val="1F3864"/>
          </a:solidFill>
        </p:spPr>
      </p:sp>
      <p:sp>
        <p:nvSpPr>
          <p:cNvPr id="19" name="Shape 16"/>
          <p:cNvSpPr/>
          <p:nvPr/>
        </p:nvSpPr>
        <p:spPr>
          <a:xfrm>
            <a:off x="1280160" y="4206240"/>
            <a:ext cx="9601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508760" y="4206240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4 — Intelligence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4206240"/>
            <a:ext cx="6400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Anomaly detection, forecasting, incident classifier, correlation and causal ranking engine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 rot="10800000">
            <a:off x="5971032" y="4892040"/>
            <a:ext cx="219456" cy="182880"/>
          </a:xfrm>
          <a:prstGeom prst="triangle">
            <a:avLst/>
          </a:prstGeom>
          <a:solidFill>
            <a:srgbClr val="1F3864"/>
          </a:solidFill>
        </p:spPr>
      </p:sp>
      <p:sp>
        <p:nvSpPr>
          <p:cNvPr id="23" name="Shape 20"/>
          <p:cNvSpPr/>
          <p:nvPr/>
        </p:nvSpPr>
        <p:spPr>
          <a:xfrm>
            <a:off x="1280160" y="5074920"/>
            <a:ext cx="9601200" cy="658368"/>
          </a:xfrm>
          <a:prstGeom prst="rect">
            <a:avLst/>
          </a:prstGeom>
          <a:solidFill>
            <a:srgbClr val="EDF0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508760" y="5074920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5 — Action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4297680" y="5074920"/>
            <a:ext cx="6400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 dashboard, alert routing, auto-remediation runbooks, feedback capture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870448"/>
            <a:ext cx="1371600" cy="649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Collection and Telemetry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four signal types consumed by the system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1737360"/>
          <a:ext cx="10698480" cy="3749040"/>
        </p:xfrm>
        <a:graphic>
          <a:graphicData uri="http://schemas.openxmlformats.org/drawingml/2006/table">
            <a:tbl>
              <a:tblPr/>
              <a:tblGrid>
                <a:gridCol w="1737360"/>
                <a:gridCol w="8961120"/>
              </a:tblGrid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Signal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Description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Metrics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CPU, memory, disk I/O, network throughput, pod restarts, request rate, latency percentiles, error rate and queue depth, sampled every 10 to 30 seconds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Logs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Structured and unstructured application, system and audit logs parsed into templates for pattern and frequency analysis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Traces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Distributed request traces across microservices giving per-hop latency and live dependency topology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Events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Deployments, configuration changes, autoscaling actions, cloud provider health events and past incident tickets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76072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Agents: OpenTelemetry Collector, Prometheus Node Exporter, Fluent Bit   |   Transport: Apache Kafka   |   Retention: hot 15 days, cold 13 months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870448"/>
            <a:ext cx="1371600" cy="649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Pipeline and Feature Engineering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Turning noisy raw telemetry into model-ready features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64592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Ingest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514600" y="16459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topics per signal type with schema registry and back-pressure handling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49424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Clean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514600" y="2249424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De-duplication, missing-value interpolation, outlier capping, unit normalisation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852928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Resample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514600" y="2852928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Align all signals to a common one-minute grid with forward-fill and aggregation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456432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Engineer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514600" y="3456432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Rolling mean and standard deviation, rate of change, lag features, seasonality decomposition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059936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Store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514600" y="4059936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Time-series DB for serving, Parquet data lake for training, feature store for reuse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77240" y="4846320"/>
            <a:ext cx="1014984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498348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 groups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5349240"/>
            <a:ext cx="102412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Statistical: rolling mean, variance, skew and percentile bands over 5, 15 and 60-minute windows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Temporal: hour-of-day and day-of-week seasonality, trend slope, time since last deployment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Topological: upstream and downstream service health, dependency depth, blast-radius score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870448"/>
            <a:ext cx="1371600" cy="649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/ ML Model Suite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 tasks require different model families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691640"/>
          <a:ext cx="10698480" cy="4352544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5120640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Task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Reason for selection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Isolation Forest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Unsupervised anomaly detection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Fast, handles high-dimensional metric vectors, requires no labels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LSTM / GRU Autoencoder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Sequential anomaly detection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Learns temporal patterns; high reconstruction error signals abnormality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Prophet / SARIMA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Capacity forecasting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Models seasonality and trend to predict resource exhaustion in advance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XGBoost Classifier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Incident probability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Supervised on historical incidents; outputs failure likelihood per service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DBSCAN Clustering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Alert noise reduction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Groups correlated alerts into a single deduplicated incident candidate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Graph Neural Network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Root cause ranking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Propagates anomaly scores across the service dependency graph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870448"/>
            <a:ext cx="1371600" cy="649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Anomaly Detection in Action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Learned dynamic baseline compared with a static threshold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645920"/>
          <a:ext cx="64922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315200" y="17830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Observations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315200" y="2240280"/>
            <a:ext cx="356616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learned baseline follows real daily seasonality instead of a flat line.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18:00 the observed curve diverges sharply from the baseline and an anomaly is raised immediately.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static 500 ms threshold fires only at 20:00, two hours later and after user impact.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Anomaly score is the normalised deviation, weighted by confidence and persistence across consecutive windows.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315200" y="2194560"/>
            <a:ext cx="9144" cy="9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870448"/>
            <a:ext cx="1371600" cy="649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Incident Prediction Engine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anomaly signal to actionable early warning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48640" y="1737360"/>
          <a:ext cx="10698480" cy="3621024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6583680"/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Time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Stage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System behaviour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 − 60 min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Drift detected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Memory growth rate exceeds learned baseline; anomaly score 0.42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 − 35 min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Risk escalates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Correlated anomalies across three dependent pods; score rises to 0.68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 − 20 min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Prediction issued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Classifier outputs 87% probability of an out-of-memory failure within 30 minutes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 − 15 min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Action taken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Runbook triggers horizontal scale-out and notifies the owning team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 − 0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Outage avoided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Predicted failure window passes with no SLA breach recorded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0644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per prediction: failure probability, predicted time window, affected services, confidence score and recommended action.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870448"/>
            <a:ext cx="1371600" cy="649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Root Cause Analysis and Correlation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Answering not just what broke, but why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73736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Topology mapping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749040" y="1737360"/>
            <a:ext cx="7223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 data builds a live service dependency graph, updated continuously as the deployment changes.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50592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Temporal correlation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749040" y="2450592"/>
            <a:ext cx="7223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Anomalies are aligned on a timeline to identify which symptom appeared first across services.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163824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Change correlation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749040" y="3163824"/>
            <a:ext cx="7223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Deployments, configuration edits and scaling events in the preceding window are scored as candidate triggers.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877056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Causal ranking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3877056"/>
            <a:ext cx="7223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graph model propagates anomaly scores upstream and returns a ranked list of probable root causes.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590288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 Evidence bundle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4590288"/>
            <a:ext cx="7223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prediction ships with the metrics, log templates and traces that justified it, for engineer review.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530352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 Similar incidents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749040" y="5303520"/>
            <a:ext cx="7223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 similarity search surfaces past incidents with matching signatures and their resolutions.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870448"/>
            <a:ext cx="1371600" cy="649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Automated Remediation Workflow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Policy-driven actions with human approval gates for high-risk changes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48640" y="1783080"/>
          <a:ext cx="10698480" cy="3657600"/>
        </p:xfrm>
        <a:graphic>
          <a:graphicData uri="http://schemas.openxmlformats.org/drawingml/2006/table">
            <a:tbl>
              <a:tblPr/>
              <a:tblGrid>
                <a:gridCol w="1645920"/>
                <a:gridCol w="2834640"/>
                <a:gridCol w="6217920"/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Risk level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Response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Example actions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Executed automatically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Restart unhealthy pod, clear cache, rotate log files, scale out replica count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Automatic with notification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Reroute traffic away from a degraded zone, throttle a noisy tenant, extend disk volume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Requires human approval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Database failover, rollback of a production deployment, cross-region traffic shift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Unknown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Escalate to on-call team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Page the owning team with the full evidence bundle and suggested runbook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0644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action is logged, reversible, and fed back into the learning loop as labelled outcome data.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870448"/>
            <a:ext cx="1371600" cy="649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Open-source first and cloud-agnostic by design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48640" y="1737360"/>
          <a:ext cx="10698480" cy="3968496"/>
        </p:xfrm>
        <a:graphic>
          <a:graphicData uri="http://schemas.openxmlformats.org/drawingml/2006/table">
            <a:tbl>
              <a:tblPr/>
              <a:tblGrid>
                <a:gridCol w="2194560"/>
                <a:gridCol w="850392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Layer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Tools and technologies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Collection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OpenTelemetry, Prometheus, Fluent Bit, cAdvisor, CloudWatch and Azure Monitor exporters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Streaming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Apache Kafka, Kafka Connect, Apache Flink for stateful stream processing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Storage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VictoriaMetrics / TimescaleDB, Elasticsearch for logs, S3 Parquet data lake, Feast feature store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ML and serving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Python, scikit-learn, PyTorch, Prophet, XGBoost, MLflow, Kubeflow, FastAPI inference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Orchestration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Kubernetes, Helm, Argo Workflows, Terraform for infrastructure as code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Interface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React dashboard, Grafana panels, Slack and PagerDuty integration, REST and GraphQL APIs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5216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principles: horizontally scalable, vendor-neutral, and no telemetry leaves the customer VPC.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870448"/>
            <a:ext cx="1371600" cy="649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Implementation Roadmap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phases over approximately twelve months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548640" y="1783080"/>
          <a:ext cx="10698480" cy="3886200"/>
        </p:xfrm>
        <a:graphic>
          <a:graphicData uri="http://schemas.openxmlformats.org/drawingml/2006/table">
            <a:tbl>
              <a:tblPr/>
              <a:tblGrid>
                <a:gridCol w="1188720"/>
                <a:gridCol w="1737360"/>
                <a:gridCol w="1645920"/>
                <a:gridCol w="6126480"/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Phase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Duration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Focus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deliverables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Phase 1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Months 1 – 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Foundation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Deploy collection agents, build Kafka ingestion, set up time-series storage, baseline dashboards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Phase 2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Months 4 – 6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Detection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Train anomaly models, dynamic baselining, alert deduplication, shadow-mode evaluation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Phase 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Months 7 – 9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Prediction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Label historical incidents, train classifiers, root cause ranking, confidence calibration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Phase 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Months 10 – 12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Automation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Runbook engine, tiered auto-remediation, feedback retraining loop, production rollout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5216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phase delivers a usable capability on its own, which reduces overall project risk.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870448"/>
            <a:ext cx="1371600" cy="649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Evaluation and Expected Impact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Measured against the pre-deployment baseline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645920"/>
          <a:ext cx="6492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7315200" y="1828800"/>
          <a:ext cx="3566160" cy="2852928"/>
        </p:xfrm>
        <a:graphic>
          <a:graphicData uri="http://schemas.openxmlformats.org/drawingml/2006/table">
            <a:tbl>
              <a:tblPr/>
              <a:tblGrid>
                <a:gridCol w="2103120"/>
                <a:gridCol w="146304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Metric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Improvement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Mean time to detect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86% faster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Mean time to resolve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72% lower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False alerts per day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81% fewer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Prediction F1-score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0.91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Median prediction lead time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23 minutes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48640" y="576072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metrics: precision 0.89, recall 0.93, AUC-ROC 0.95.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870448"/>
            <a:ext cx="1371600" cy="649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Challenges and Mitigation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Known risks and how the design addresses them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548640" y="1737360"/>
          <a:ext cx="10698480" cy="4032504"/>
        </p:xfrm>
        <a:graphic>
          <a:graphicData uri="http://schemas.openxmlformats.org/drawingml/2006/table">
            <a:tbl>
              <a:tblPr/>
              <a:tblGrid>
                <a:gridCol w="3017520"/>
                <a:gridCol w="7680960"/>
              </a:tblGrid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Challenge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Mitigation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Scarce incident labels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 unsupervised detection as the base layer; augment with synthetic fault injection and chaos experiments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Concept drift after deployments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Scheduled and drift-triggered retraining, with deployment events as explicit model features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Alert fatigue from predictions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Confidence thresholds, clustering-based deduplication and a per-team noise budget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Explainability of model output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SHAP attributions plus an evidence bundle attached to every prediction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Cost of telemetry at scale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Adaptive sampling, tiered retention and downsampling of cold data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 privacy in logs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In-VPC processing, PII redaction at the agent, role-based access control and full audit logging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A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870448"/>
            <a:ext cx="1371600" cy="649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Planned extensions beyond the current system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783080"/>
            <a:ext cx="10241280" cy="420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LLM-assisted operations: a natural-language copilot that answers questions such as why checkout is slow and drafts incident post-mortems automatically.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Reinforcement learning: remediation policies that learn the optimal action from the measured outcome of past interventions.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Cross-cloud federation: a single correlated view across AWS, Azure, GCP and on-premise estates with unified topology.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FinOps integration: joint optimisation of reliability and cost by predicting spend anomalies alongside failures.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 and IoT coverage: lightweight on-device inference for latency-sensitive and bandwidth-constrained fleets.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convergence: reusing the same anomaly pipeline for intrusion and insider-threat detection.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870448"/>
            <a:ext cx="1371600" cy="649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 of the work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783080"/>
            <a:ext cx="10241280" cy="3566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infrastructure has outgrown threshold-based, human-driven monitoring.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Fusing metrics, logs, traces and events gives models enough signal to see failures forming.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ensemble of unsupervised and supervised models detects anomalies earlier and predicts incidents with a usable lead time.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Topology-aware correlation converts predictions into ranked root causes with supporting evidence.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Tiered automation resolves routine failures without human intervention while keeping risky actions gated.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result is a shift from firefighting outages to preventing them, with measurably faster, quieter and cheaper operations.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77240" y="5257800"/>
            <a:ext cx="1014984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4406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59436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and suggestions are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12575</Words>
  <Application>WPS Presentation</Application>
  <PresentationFormat>On-screen Show (16:9)</PresentationFormat>
  <Paragraphs>581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k.Manish venkatt</cp:lastModifiedBy>
  <cp:revision>3</cp:revision>
  <dcterms:created xsi:type="dcterms:W3CDTF">2026-09-19T06:45:00Z</dcterms:created>
  <dcterms:modified xsi:type="dcterms:W3CDTF">2026-09-19T06:48:32Z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A42D2E1547764940823948486288790F_13</vt:lpwstr>
  </property>
  <property fmtid="{D5CDD505-2E9C-101B-9397-08002B2CF9AE}" pid="3" name="KSOProductBuildVer">
    <vt:lpwstr>1033-12.1.0.28485</vt:lpwstr>
  </property>
</Properties>
</file>